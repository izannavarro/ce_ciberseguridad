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jpeg" ContentType="image/jpeg"/>
  <Override PartName="/ppt/media/image9.jpeg" ContentType="image/jpeg"/>
  <Override PartName="/ppt/media/image2.jpeg" ContentType="image/jpeg"/>
  <Override PartName="/ppt/media/image8.png" ContentType="image/png"/>
  <Override PartName="/ppt/media/image3.jpeg" ContentType="image/jpeg"/>
  <Override PartName="/ppt/media/image5.png" ContentType="image/png"/>
  <Override PartName="/ppt/media/image4.jpeg" ContentType="image/jpeg"/>
  <Override PartName="/ppt/media/image6.png" ContentType="image/png"/>
  <Override PartName="/ppt/media/image7.jpeg" ContentType="image/jpeg"/>
  <Override PartName="/ppt/media/image10.png" ContentType="image/png"/>
  <Override PartName="/ppt/media/image11.jpeg" ContentType="image/jpeg"/>
  <Override PartName="/ppt/media/image12.jpeg" ContentType="image/jpeg"/>
  <Override PartName="/ppt/media/image13.jpeg" ContentType="image/jpeg"/>
  <Override PartName="/ppt/media/image14.png" ContentType="image/png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_rels/slide26.xml.rels" ContentType="application/vnd.openxmlformats-package.relationships+xml"/>
  <Override PartName="/ppt/slides/_rels/slide53.xml.rels" ContentType="application/vnd.openxmlformats-package.relationships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3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451520" y="804600"/>
            <a:ext cx="9603000" cy="4863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987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794556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4515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46987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794556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451520" y="804600"/>
            <a:ext cx="9603000" cy="4863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3450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451520" y="3817800"/>
            <a:ext cx="960300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372360" y="201564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145152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372360" y="3817800"/>
            <a:ext cx="468612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69872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7945560" y="201564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14515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69872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7945560" y="3817800"/>
            <a:ext cx="3092040" cy="16455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2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2417760" y="802440"/>
            <a:ext cx="8636760" cy="2541240"/>
          </a:xfrm>
          <a:prstGeom prst="rect">
            <a:avLst/>
          </a:prstGeom>
        </p:spPr>
        <p:txBody>
          <a:bodyPr bIns="0" anchor="b">
            <a:normAutofit fontScale="56000"/>
          </a:bodyPr>
          <a:p>
            <a:pPr>
              <a:lnSpc>
                <a:spcPct val="90000"/>
              </a:lnSpc>
            </a:pPr>
            <a:r>
              <a:rPr b="0" lang="en-US" sz="6600" spc="-1" strike="noStrike" cap="all">
                <a:solidFill>
                  <a:srgbClr val="000000"/>
                </a:solidFill>
                <a:latin typeface="Gill Sans MT"/>
              </a:rPr>
              <a:t>Haga clic para modificar el estilo de título del patrón</a:t>
            </a:r>
            <a:endParaRPr b="0" lang="en-US" sz="6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829BBB6-20C5-4753-84F7-03D2FCCFB35E}" type="datetime">
              <a:rPr b="0" lang="es-ES" sz="1000" spc="-1" strike="noStrike">
                <a:solidFill>
                  <a:srgbClr val="8b8b8b"/>
                </a:solidFill>
                <a:latin typeface="Gill Sans MT"/>
              </a:rPr>
              <a:t>1/10/24</a:t>
            </a:fld>
            <a:endParaRPr b="0" lang="es-ES" sz="10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ftr"/>
          </p:nvPr>
        </p:nvSpPr>
        <p:spPr>
          <a:xfrm>
            <a:off x="2416680" y="329400"/>
            <a:ext cx="4973400" cy="3088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s-ES" sz="2400" spc="-1" strike="noStrike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sldNum"/>
          </p:nvPr>
        </p:nvSpPr>
        <p:spPr>
          <a:xfrm>
            <a:off x="1437840" y="798840"/>
            <a:ext cx="810720" cy="50328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44FC504B-798B-4462-885F-A99EFBA21A63}" type="slidenum">
              <a:rPr b="0" lang="es-ES" sz="2800" spc="-1" strike="noStrike">
                <a:solidFill>
                  <a:srgbClr val="b71e42"/>
                </a:solidFill>
                <a:latin typeface="Gill Sans MT"/>
              </a:rPr>
              <a:t>&lt;número&gt;</a:t>
            </a:fld>
            <a:endParaRPr b="0" lang="es-ES" sz="2800" spc="-1" strike="noStrike">
              <a:latin typeface="Times New Roman"/>
            </a:endParaRPr>
          </a:p>
        </p:txBody>
      </p:sp>
      <p:sp>
        <p:nvSpPr>
          <p:cNvPr id="7" name="Line 7"/>
          <p:cNvSpPr/>
          <p:nvPr/>
        </p:nvSpPr>
        <p:spPr>
          <a:xfrm>
            <a:off x="2417760" y="3528360"/>
            <a:ext cx="863676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" name="PlaceHolder 8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Pulse para editar el formato de esquema del texto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Segundo nivel del esquema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Tercer nivel del esquema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Cuarto nivel del esquema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6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47" name="Line 2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Haga clic para modificar el estilo de título del patrón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Haga clic para modificar los estilos de texto del patrón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Segundo nivel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Tercer nivel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Cuarto nivel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Quinto nivel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2A3B630-98E8-42E7-AD06-8555AD8B180C}" type="datetime">
              <a:rPr b="0" lang="es-ES" sz="1000" spc="-1" strike="noStrike">
                <a:solidFill>
                  <a:srgbClr val="8b8b8b"/>
                </a:solidFill>
                <a:latin typeface="Gill Sans MT"/>
              </a:rPr>
              <a:t>1/10/24</a:t>
            </a:fld>
            <a:endParaRPr b="0" lang="es-ES" sz="1000" spc="-1" strike="noStrike"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ftr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s-ES" sz="2400" spc="-1" strike="noStrike"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sldNum"/>
          </p:nvPr>
        </p:nvSpPr>
        <p:spPr>
          <a:xfrm>
            <a:off x="480240" y="798840"/>
            <a:ext cx="810720" cy="503280"/>
          </a:xfrm>
          <a:prstGeom prst="rect">
            <a:avLst/>
          </a:prstGeom>
        </p:spPr>
        <p:txBody>
          <a:bodyPr>
            <a:noAutofit/>
          </a:bodyPr>
          <a:p>
            <a:pPr algn="r">
              <a:lnSpc>
                <a:spcPct val="100000"/>
              </a:lnSpc>
            </a:pPr>
            <a:fld id="{081E74F3-8538-4CED-9618-847F1F10E06E}" type="slidenum">
              <a:rPr b="0" lang="es-ES" sz="2800" spc="-1" strike="noStrike">
                <a:solidFill>
                  <a:srgbClr val="b71e42"/>
                </a:solidFill>
                <a:latin typeface="Gill Sans MT"/>
              </a:rPr>
              <a:t>1</a:t>
            </a:fld>
            <a:endParaRPr b="0" lang="es-ES" sz="2800" spc="-1" strike="noStrike">
              <a:latin typeface="Times New Roman"/>
            </a:endParaRPr>
          </a:p>
        </p:txBody>
      </p:sp>
      <p:sp>
        <p:nvSpPr>
          <p:cNvPr id="53" name="Line 8"/>
          <p:cNvSpPr/>
          <p:nvPr/>
        </p:nvSpPr>
        <p:spPr>
          <a:xfrm>
            <a:off x="1453680" y="1846800"/>
            <a:ext cx="960768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rfc-editor.org/rfc/rfc1918" TargetMode="External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hyperlink" Target="https://www.rfc-editor.org/rfc/rfc4252" TargetMode="External"/><Relationship Id="rId2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2417760" y="802440"/>
            <a:ext cx="8636760" cy="2541240"/>
          </a:xfrm>
          <a:prstGeom prst="rect">
            <a:avLst/>
          </a:prstGeom>
          <a:noFill/>
          <a:ln>
            <a:noFill/>
          </a:ln>
        </p:spPr>
        <p:txBody>
          <a:bodyPr bIns="0" anchor="b">
            <a:normAutofit/>
          </a:bodyPr>
          <a:p>
            <a:pPr>
              <a:lnSpc>
                <a:spcPct val="90000"/>
              </a:lnSpc>
            </a:pPr>
            <a:r>
              <a:rPr b="0" lang="en-US" sz="4500" spc="-1" strike="noStrike" cap="all">
                <a:solidFill>
                  <a:srgbClr val="000000"/>
                </a:solidFill>
                <a:latin typeface="Gill Sans MT"/>
              </a:rPr>
              <a:t>T1 – Diseño de Redes de computadores seguras</a:t>
            </a:r>
            <a:endParaRPr b="0" lang="en-US" sz="45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2417760" y="3531240"/>
            <a:ext cx="8636760" cy="977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</a:pPr>
            <a:r>
              <a:rPr b="0" lang="es-ES" sz="1800" spc="-1" strike="noStrike" cap="all">
                <a:solidFill>
                  <a:srgbClr val="001d35"/>
                </a:solidFill>
                <a:latin typeface="Google Sans"/>
              </a:rPr>
              <a:t>Bastionado de redes y Sistemas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r>
              <a:rPr b="0" lang="es-ES" sz="1800" spc="-1" strike="noStrike" cap="all">
                <a:solidFill>
                  <a:srgbClr val="001d35"/>
                </a:solidFill>
                <a:latin typeface="Google Sans"/>
              </a:rPr>
              <a:t>Ciberseguridad en Entornos de las tecnologías de la información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Índice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457200" indent="-4568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Introducción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457200" indent="-4568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Subnetting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457200" indent="-4568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Redes virtuales (VLAN)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457200" indent="-4568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Zona desmilitarizada (DMZ)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457200" indent="-4568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Seguridad en redes inalámbricas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457200" indent="-4568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Gill Sans MT"/>
              <a:buAutoNum type="arabicPeriod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Protocolos seguros de red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b="0" lang="en-US" sz="8000" spc="-1" strike="noStrike">
                <a:solidFill>
                  <a:srgbClr val="000000"/>
                </a:solidFill>
                <a:latin typeface="Gill Sans MT"/>
              </a:rPr>
              <a:t>¿Qué es una red de computadores?</a:t>
            </a:r>
            <a:endParaRPr b="0" lang="en-US" sz="8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eceae7"/>
              </a:gs>
              <a:gs pos="100000">
                <a:srgbClr val="cac6c1"/>
              </a:gs>
            </a:gsLst>
            <a:path path="circle">
              <a:fillToRect l="50000" t="10000" r="50000" b="9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Line 2"/>
          <p:cNvSpPr/>
          <p:nvPr/>
        </p:nvSpPr>
        <p:spPr>
          <a:xfrm>
            <a:off x="1453680" y="1846800"/>
            <a:ext cx="417744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Shape 3"/>
          <p:cNvSpPr txBox="1"/>
          <p:nvPr/>
        </p:nvSpPr>
        <p:spPr>
          <a:xfrm>
            <a:off x="1451520" y="804600"/>
            <a:ext cx="4176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TextShape 5"/>
          <p:cNvSpPr txBox="1"/>
          <p:nvPr/>
        </p:nvSpPr>
        <p:spPr>
          <a:xfrm>
            <a:off x="1451520" y="2015640"/>
            <a:ext cx="417168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Segun la RAE, una red es un conjunto de computadoras o de equipos informáticos conectados entre sí y que pueden intercambiar información.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¿Cual es la red de computadores más grande que conoceis y para que la utilizais?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01" name="Picture 2" descr="Ai Generado, Internet, Ordenadores"/>
          <p:cNvPicPr/>
          <p:nvPr/>
        </p:nvPicPr>
        <p:blipFill>
          <a:blip r:embed="rId1"/>
          <a:stretch/>
        </p:blipFill>
        <p:spPr>
          <a:xfrm>
            <a:off x="6094440" y="1207440"/>
            <a:ext cx="4960080" cy="3856320"/>
          </a:xfrm>
          <a:prstGeom prst="rect">
            <a:avLst/>
          </a:prstGeom>
          <a:ln>
            <a:noFill/>
          </a:ln>
        </p:spPr>
      </p:pic>
      <p:pic>
        <p:nvPicPr>
          <p:cNvPr id="102" name="Picture 1038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103" name="Line 6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Segmentación de redes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Dividir una red en redes más pequeñas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¿Para qué?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Aumento de rendimiento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Mejora significativa de la comunicación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Mejor gestión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Mayor control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Segmentación de redes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Tipos de segmentación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Física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La segmentación física es aquella que está condicionada por el cableado y hardware de red que la conecta.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Lógica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La segmentación lógica es aquella que tan solo utiliza el software para dividir una red en subredes más pequeñas.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Segmentación de redes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Consideraciones a la hora de segmentar una red: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Protocolos de enrutamiento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Equipos necesarios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Routers y Switches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Eficiencia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Menos ruido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Seguridad de acceso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Direccionamiento de red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El objetivo del direccionamiento de red es identificar a cada uno de los equipos de una red.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Tipos de direccionamiento de red: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IPv4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Consiste en una cadena de dígitos de de 32 bits que se componen de 4 números separados por puntos (192.168.1.1)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IPv6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Consiste en una cadena de dígitos de de 128 bits que se compone de 8 números en hexadecimal separados por dos puntos (2001:0DB8:AC10:FE01:0000:0000:0000:0000)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Direccionamiento de red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Direccionamiento IPv4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Clases de redes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Clase A: Redes grandes (0.0.0.0 – 127.255.255.255)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Clase B: Redes medianas (128.0.0.0 – 191.255.255.255)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Clase C: Redes pequeñas (192.0.0.0 – 223.255.255.255)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Clase D: Redes Multicast (224.0.0.0 – 239.255.255.255)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Clase E: Redes de Investigación (240.0.0.0 – 255.255.255.255)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Direccionamiento de red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5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Direccionamiento IPv4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Tipos de direcciones IP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Públicas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333333"/>
                </a:solidFill>
                <a:latin typeface="-apple-system"/>
              </a:rPr>
              <a:t>Las direcciones IPv4 públicas constituyen el espacio de direcciones de Internet.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Privadas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333333"/>
                </a:solidFill>
                <a:latin typeface="-apple-system"/>
              </a:rPr>
              <a:t>Rangos de direcciones IPv4 han sido reservados para la operación de redes privadas (</a:t>
            </a:r>
            <a:r>
              <a:rPr b="1" lang="en-US" sz="1400" spc="-1" strike="noStrike" u="sng">
                <a:solidFill>
                  <a:srgbClr val="fa2b5c"/>
                </a:solidFill>
                <a:uFillTx/>
                <a:latin typeface="-apple-system"/>
                <a:hlinkClick r:id="rId1"/>
              </a:rPr>
              <a:t>RFC 1918</a:t>
            </a:r>
            <a:r>
              <a:rPr b="0" lang="en-US" sz="1400" spc="-1" strike="noStrike">
                <a:solidFill>
                  <a:srgbClr val="333333"/>
                </a:solidFill>
                <a:latin typeface="-apple-system"/>
              </a:rPr>
              <a:t>).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333333"/>
                </a:solidFill>
                <a:latin typeface="-apple-system"/>
              </a:rPr>
              <a:t>Clase A 10.0.0.0 – 10.255.255.255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333333"/>
                </a:solidFill>
                <a:latin typeface="-apple-system"/>
              </a:rPr>
              <a:t>Clase B 172.16.0.0 – 172.31.255.255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333333"/>
                </a:solidFill>
                <a:latin typeface="-apple-system"/>
              </a:rPr>
              <a:t>Clase C 192.168.0.0 – 192.168.255.255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eceae7"/>
              </a:gs>
              <a:gs pos="100000">
                <a:srgbClr val="cac6c1"/>
              </a:gs>
            </a:gsLst>
            <a:path path="circle">
              <a:fillToRect l="50000" t="10000" r="50000" b="9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Line 2"/>
          <p:cNvSpPr/>
          <p:nvPr/>
        </p:nvSpPr>
        <p:spPr>
          <a:xfrm>
            <a:off x="1453680" y="1846800"/>
            <a:ext cx="554796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Shape 3"/>
          <p:cNvSpPr txBox="1"/>
          <p:nvPr/>
        </p:nvSpPr>
        <p:spPr>
          <a:xfrm>
            <a:off x="1451520" y="804600"/>
            <a:ext cx="555012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000" spc="-1" strike="noStrike" cap="all">
                <a:solidFill>
                  <a:srgbClr val="000000"/>
                </a:solidFill>
                <a:latin typeface="Gill Sans MT"/>
              </a:rPr>
              <a:t>1.1 - Introducción: Direccionamiento de red</a:t>
            </a:r>
            <a:endParaRPr b="0" lang="en-US" sz="30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Shape 5"/>
          <p:cNvSpPr txBox="1"/>
          <p:nvPr/>
        </p:nvSpPr>
        <p:spPr>
          <a:xfrm>
            <a:off x="1451520" y="2015640"/>
            <a:ext cx="555012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Direccionamiento IPv6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Tipos de direcciones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Unicast (1to1)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Multicast (1 to n)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Anycast (n to n)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No hay dirección de broadcast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21" name="Imagen 4" descr=""/>
          <p:cNvPicPr/>
          <p:nvPr/>
        </p:nvPicPr>
        <p:blipFill>
          <a:blip r:embed="rId1"/>
          <a:stretch/>
        </p:blipFill>
        <p:spPr>
          <a:xfrm>
            <a:off x="7473600" y="947880"/>
            <a:ext cx="4074480" cy="1558440"/>
          </a:xfrm>
          <a:prstGeom prst="rect">
            <a:avLst/>
          </a:prstGeom>
          <a:ln>
            <a:noFill/>
          </a:ln>
        </p:spPr>
      </p:pic>
      <p:pic>
        <p:nvPicPr>
          <p:cNvPr id="122" name="Imagen 6" descr=""/>
          <p:cNvPicPr/>
          <p:nvPr/>
        </p:nvPicPr>
        <p:blipFill>
          <a:blip r:embed="rId2"/>
          <a:stretch/>
        </p:blipFill>
        <p:spPr>
          <a:xfrm>
            <a:off x="7473600" y="3691800"/>
            <a:ext cx="4074480" cy="1384920"/>
          </a:xfrm>
          <a:prstGeom prst="rect">
            <a:avLst/>
          </a:prstGeom>
          <a:ln>
            <a:noFill/>
          </a:ln>
        </p:spPr>
      </p:pic>
      <p:pic>
        <p:nvPicPr>
          <p:cNvPr id="123" name="Picture 17" descr=""/>
          <p:cNvPicPr/>
          <p:nvPr/>
        </p:nvPicPr>
        <p:blipFill>
          <a:blip r:embed="rId3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124" name="Line 6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1.1 - Introducción: Direccionamiento de red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Direccionamiento IPv6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Tipos de direcciones Unicast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Loopback ::1/128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Link-Local FE80::/10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Unicast Global 2001::/16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Local Única FC00::/7 a FDFF::/7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eceae7"/>
              </a:gs>
              <a:gs pos="100000">
                <a:srgbClr val="cac6c1"/>
              </a:gs>
            </a:gsLst>
            <a:path path="circle">
              <a:fillToRect l="50000" t="10000" r="50000" b="9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Line 2"/>
          <p:cNvSpPr/>
          <p:nvPr/>
        </p:nvSpPr>
        <p:spPr>
          <a:xfrm>
            <a:off x="1453680" y="1846800"/>
            <a:ext cx="417744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Shape 3"/>
          <p:cNvSpPr txBox="1"/>
          <p:nvPr/>
        </p:nvSpPr>
        <p:spPr>
          <a:xfrm>
            <a:off x="1451520" y="804600"/>
            <a:ext cx="4176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0" name="CustomShape 4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TextShape 5"/>
          <p:cNvSpPr txBox="1"/>
          <p:nvPr/>
        </p:nvSpPr>
        <p:spPr>
          <a:xfrm>
            <a:off x="1451520" y="2015640"/>
            <a:ext cx="417168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¿Qué es el subnetting?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La división segmentar una red en varias subredes.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457200">
              <a:lnSpc>
                <a:spcPct val="120000"/>
              </a:lnSpc>
              <a:spcBef>
                <a:spcPts val="499"/>
              </a:spcBef>
            </a:pP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32" name="Picture 6" descr="undefined"/>
          <p:cNvPicPr/>
          <p:nvPr/>
        </p:nvPicPr>
        <p:blipFill>
          <a:blip r:embed="rId1"/>
          <a:stretch/>
        </p:blipFill>
        <p:spPr>
          <a:xfrm>
            <a:off x="6094440" y="1647720"/>
            <a:ext cx="4960080" cy="2975760"/>
          </a:xfrm>
          <a:prstGeom prst="rect">
            <a:avLst/>
          </a:prstGeom>
          <a:ln>
            <a:noFill/>
          </a:ln>
        </p:spPr>
      </p:pic>
      <p:pic>
        <p:nvPicPr>
          <p:cNvPr id="133" name="Picture 1053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134" name="Line 6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Dominios de difusión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Redes LAN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Router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Switch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Comunicación entre equipos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DHCP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ARP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Problemas con los dominios de difusión grandes: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Muchos dispositivos comunicándose entre sí.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Genera mucho trafico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Conexión de red lenta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Operaciones en los equipos lentas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Beneficios de hacer subnetting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Mayor control sobre la red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Gestión más sencilla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Menor tráfico de difusión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Criterios para crear subredes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Por ubicación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Pisos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Delegaciones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Por secciones organizativas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Departamentos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Tipo de equipos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Cualquier motivo que sea interesante para la organización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4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Parámetros a tener en cuenta a la hora de crear subredes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Ejemplo </a:t>
            </a:r>
            <a:r>
              <a:rPr b="0" lang="en-US" sz="1800" spc="-1" strike="noStrike">
                <a:solidFill>
                  <a:srgbClr val="ff0000"/>
                </a:solidFill>
                <a:latin typeface="Gill Sans MT"/>
              </a:rPr>
              <a:t>192.168.0.</a:t>
            </a:r>
            <a:r>
              <a:rPr b="0" lang="en-US" sz="1800" spc="-1" strike="noStrike">
                <a:solidFill>
                  <a:srgbClr val="92d050"/>
                </a:solidFill>
                <a:latin typeface="Gill Sans MT"/>
              </a:rPr>
              <a:t>0</a:t>
            </a:r>
            <a:r>
              <a:rPr b="0" lang="en-US" sz="1800" spc="-1" strike="noStrike">
                <a:solidFill>
                  <a:srgbClr val="7030a0"/>
                </a:solidFill>
                <a:latin typeface="Gill Sans MT"/>
              </a:rPr>
              <a:t>/24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7030a0"/>
                </a:solidFill>
                <a:latin typeface="Gill Sans MT"/>
              </a:rPr>
              <a:t>/24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La máscara, indica cuantos bits vamos a coger para diseñar subredes o asignar a hosts.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92d050"/>
                </a:solidFill>
                <a:latin typeface="Gill Sans MT"/>
              </a:rPr>
              <a:t>0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 Bits de hosts. La parte variable, en este caso, los 8 bits que nos deja la máscara /24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ff0000"/>
                </a:solidFill>
                <a:latin typeface="Gill Sans MT"/>
              </a:rPr>
              <a:t>192.168.0. 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Identificador de red. Parte fija.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457200" algn="ctr">
              <a:lnSpc>
                <a:spcPct val="120000"/>
              </a:lnSpc>
              <a:spcBef>
                <a:spcPts val="4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¿Cuántos hosts caben en una red /24?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46" name="Picture 2" descr="1"/>
          <p:cNvPicPr/>
          <p:nvPr/>
        </p:nvPicPr>
        <p:blipFill>
          <a:blip r:embed="rId1"/>
          <a:srcRect l="0" t="37634" r="0" b="0"/>
          <a:stretch/>
        </p:blipFill>
        <p:spPr>
          <a:xfrm>
            <a:off x="1660320" y="2056680"/>
            <a:ext cx="8871120" cy="29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1.2 - SUBNETTING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1294200" y="2961720"/>
            <a:ext cx="9603000" cy="934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457200" algn="ctr">
              <a:lnSpc>
                <a:spcPct val="120000"/>
              </a:lnSpc>
              <a:spcBef>
                <a:spcPts val="499"/>
              </a:spcBef>
            </a:pPr>
            <a:r>
              <a:rPr b="0" lang="en-US" sz="4500" spc="-1" strike="noStrike">
                <a:solidFill>
                  <a:srgbClr val="000000"/>
                </a:solidFill>
                <a:latin typeface="Gill Sans MT"/>
              </a:rPr>
              <a:t>Practica 1.1: Fundamentos de Redes</a:t>
            </a:r>
            <a:endParaRPr b="0" lang="en-US" sz="4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1.3 Redes virtuales (VLAN)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0" name="TextShape 2"/>
          <p:cNvSpPr txBox="1"/>
          <p:nvPr/>
        </p:nvSpPr>
        <p:spPr>
          <a:xfrm>
            <a:off x="2557080" y="2725200"/>
            <a:ext cx="70776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b="0" lang="en-US" sz="6000" spc="-1" strike="noStrike">
                <a:solidFill>
                  <a:srgbClr val="000000"/>
                </a:solidFill>
                <a:latin typeface="Gill Sans MT"/>
              </a:rPr>
              <a:t>¿Qué es una VLAN?</a:t>
            </a:r>
            <a:endParaRPr b="0" lang="en-US" sz="6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1.3 Redes virtuales (VLAN)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Virtual Local Area Network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Protocolo IEEE 802.1Q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Redes lógicas independientes dentro de una misma red física.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Eso nos permite que puedan coexistir varias redes en el mismo medio físico, actuando como redes distintas a todos los efectos.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Permite reducir el dominio de difusión/dominio de broadcast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 configuran a través de software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1.3 Redes virtuales (VLAN)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Las VLAN se pueden configurar por varios criterios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Por puerto de switch (Port Switching)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Por direcciones MAC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Por tipo de protocolo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Por direcciones IP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VLAN por usuario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DVLAN (VLAN Dinámica)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1.3 Redes virtuales (VLAN)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6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Peligros de la VLAN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VLAN Hopping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Pivotar de una VLAN a otra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Dos tipos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Suplantación de Switch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Doble etiquetado de Switch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Prevenir VLAN Hopping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Conveniente tener el estado DTP (Protocolo de Trunking Dinamico), como no negociable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El  puerto de enlace troncal (trunk), no tiene que tener una VLAN nativa, que se use como acceso.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1.3 Redes virtuales (VLAN)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8" name="TextShape 2"/>
          <p:cNvSpPr txBox="1"/>
          <p:nvPr/>
        </p:nvSpPr>
        <p:spPr>
          <a:xfrm>
            <a:off x="1294200" y="2961720"/>
            <a:ext cx="9603000" cy="934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457200" algn="ctr">
              <a:lnSpc>
                <a:spcPct val="120000"/>
              </a:lnSpc>
              <a:spcBef>
                <a:spcPts val="499"/>
              </a:spcBef>
            </a:pPr>
            <a:r>
              <a:rPr b="0" lang="en-US" sz="4500" spc="-1" strike="noStrike">
                <a:solidFill>
                  <a:srgbClr val="000000"/>
                </a:solidFill>
                <a:latin typeface="Gill Sans MT"/>
              </a:rPr>
              <a:t>Practica 1.2: Creación de una VLAN</a:t>
            </a:r>
            <a:endParaRPr b="0" lang="en-US" sz="4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1.4 Zona desmilitarizada (DMZ)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60" name="TextShape 2"/>
          <p:cNvSpPr txBox="1"/>
          <p:nvPr/>
        </p:nvSpPr>
        <p:spPr>
          <a:xfrm>
            <a:off x="2557080" y="2725200"/>
            <a:ext cx="70776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algn="ctr">
              <a:lnSpc>
                <a:spcPct val="120000"/>
              </a:lnSpc>
              <a:spcBef>
                <a:spcPts val="1001"/>
              </a:spcBef>
            </a:pPr>
            <a:r>
              <a:rPr b="0" lang="en-US" sz="6000" spc="-1" strike="noStrike">
                <a:solidFill>
                  <a:srgbClr val="000000"/>
                </a:solidFill>
                <a:latin typeface="Gill Sans MT"/>
              </a:rPr>
              <a:t>¿Qué es una DMZ?</a:t>
            </a:r>
            <a:endParaRPr b="0" lang="en-US" sz="6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1.4 Zona desmilitarizada (DMZ)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62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2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La DMZ o zona desmilitarizada, es una red perimetral concebida como una LAN, para proteger de tráfico no confiable. Se usa habitualmente para albergar servicios críticos. Se encuentra entre las redes privadas e Internet.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1.4 Zona desmilitarizada (DMZ)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64" name="Picture 2" descr=""/>
          <p:cNvPicPr/>
          <p:nvPr/>
        </p:nvPicPr>
        <p:blipFill>
          <a:blip r:embed="rId1"/>
          <a:stretch/>
        </p:blipFill>
        <p:spPr>
          <a:xfrm>
            <a:off x="3761640" y="2016000"/>
            <a:ext cx="4982400" cy="3449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1.4 Zona desmilitarizada (DMZ)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66" name="TextShape 2"/>
          <p:cNvSpPr txBox="1"/>
          <p:nvPr/>
        </p:nvSpPr>
        <p:spPr>
          <a:xfrm>
            <a:off x="1294200" y="2961720"/>
            <a:ext cx="9603000" cy="934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457200" algn="ctr">
              <a:lnSpc>
                <a:spcPct val="120000"/>
              </a:lnSpc>
              <a:spcBef>
                <a:spcPts val="499"/>
              </a:spcBef>
            </a:pPr>
            <a:r>
              <a:rPr b="0" lang="en-US" sz="4500" spc="-1" strike="noStrike">
                <a:solidFill>
                  <a:srgbClr val="000000"/>
                </a:solidFill>
                <a:latin typeface="Gill Sans MT"/>
              </a:rPr>
              <a:t>Practica 1.3: Iptables</a:t>
            </a:r>
            <a:endParaRPr b="0" lang="en-US" sz="45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1.5 Seguridad en redes Inalámbricas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68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Puntos de acceso inalámbricos, son un vector de entrada a una organización.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Las ondas de radio no entienden de infraestructuras físicas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Configuración deficiente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Contraseña débil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Cifrado débil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Herramienta de auditoria Wi-Fi aircrack-ng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1.5 Seguridad en redes Inalámbricas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0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Medidas para proteger una red inalámbrica o Wi-Fi: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Fortalecer la red inalámbrica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Cifrados no vulnerables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Proteger datos corporativos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Red de invitados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Utilizar una contraseña segura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Política robusta de contraseñas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Filtrado de direcciones MAC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1.5 Seguridad en redes Inalámbricas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2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Medidas para proteger una red inalámbrica o Wi-Fi: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Actualizar los puntos de acceso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Apagar los APN en periodos de inactividad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Mantener SSID oculto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Cambiar los parámetros por defecto como el SSID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1.5 Seguridad en redes Inalámbricas</a:t>
            </a:r>
            <a:br/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4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000"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Cifrado de contraseñas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WEP (Wired equivalent privacy)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64/128 bits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No recomendado ya que es vunerable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WPA (Wi-Fi Protected access)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Claves precompartidas PSK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WPA2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Claves AES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WPA3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192 bits modo Enterprise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128 bits modo Personal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gradFill rotWithShape="0">
            <a:gsLst>
              <a:gs pos="0">
                <a:srgbClr val="eceae7"/>
              </a:gs>
              <a:gs pos="100000">
                <a:srgbClr val="cac6c1"/>
              </a:gs>
            </a:gsLst>
            <a:path path="circle">
              <a:fillToRect l="50000" t="10000" r="50000" b="9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Line 2"/>
          <p:cNvSpPr/>
          <p:nvPr/>
        </p:nvSpPr>
        <p:spPr>
          <a:xfrm>
            <a:off x="1453680" y="1846800"/>
            <a:ext cx="4177440" cy="0"/>
          </a:xfrm>
          <a:prstGeom prst="line">
            <a:avLst/>
          </a:prstGeom>
          <a:ln w="31680">
            <a:rou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TextShape 3"/>
          <p:cNvSpPr txBox="1"/>
          <p:nvPr/>
        </p:nvSpPr>
        <p:spPr>
          <a:xfrm>
            <a:off x="1451520" y="804600"/>
            <a:ext cx="4176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8" name="CustomShape 4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TextShape 5"/>
          <p:cNvSpPr txBox="1"/>
          <p:nvPr/>
        </p:nvSpPr>
        <p:spPr>
          <a:xfrm>
            <a:off x="1451520" y="2015640"/>
            <a:ext cx="417168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Vulnerabilidades según la capa TCP/IP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2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80" name="Imagen 4" descr="Interfaz de usuario gráfica, Aplicación&#10;&#10;Descripción generada automáticamente"/>
          <p:cNvPicPr/>
          <p:nvPr/>
        </p:nvPicPr>
        <p:blipFill>
          <a:blip r:embed="rId1"/>
          <a:stretch/>
        </p:blipFill>
        <p:spPr>
          <a:xfrm>
            <a:off x="6094440" y="1009080"/>
            <a:ext cx="4960080" cy="4253040"/>
          </a:xfrm>
          <a:prstGeom prst="rect">
            <a:avLst/>
          </a:prstGeom>
          <a:ln>
            <a:noFill/>
          </a:ln>
        </p:spPr>
      </p:pic>
      <p:pic>
        <p:nvPicPr>
          <p:cNvPr id="181" name="Picture 15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ln>
            <a:noFill/>
          </a:ln>
        </p:spPr>
      </p:pic>
      <p:sp>
        <p:nvSpPr>
          <p:cNvPr id="182" name="Line 6"/>
          <p:cNvSpPr/>
          <p:nvPr/>
        </p:nvSpPr>
        <p:spPr>
          <a:xfrm>
            <a:off x="0" y="6128280"/>
            <a:ext cx="12191760" cy="0"/>
          </a:xfrm>
          <a:prstGeom prst="line">
            <a:avLst/>
          </a:prstGeom>
          <a:ln w="12600">
            <a:solidFill>
              <a:srgbClr val="00000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84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Vulnerabilidades en capa física/acceso a la red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Acceso directo al medio físico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Control de acceso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Comunicaciones punto a punto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Redes inalámbricas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Vulnerabilidades en capa de red (IP, ARP, ICMP, IGMP)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Problemas con la confidencialidad, autenticidad e integridad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Escaneos de red en modo promiscuo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Suplantación de mensajes o direcciones IP (IP spoofing)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Envenenamiento ARP o ARP spoofing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88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Vulnerabilidades en capa de transporte (TCP/UDP)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Transporte de paquetes en claro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Ataques de denegación de servicio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Secuestro de conexiones/sesiones TCP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0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Vulnerabilidades en capa de aplicación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Vulnerabilidades en aplicaciones/protocolos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Escaneo de puertos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DNS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Suplantar DNS (resolv.conf)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TELNET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No cifrado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Binomio usuario/contraseña pueden ser capturados con un sniffer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FTP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No cifrado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Binomio usuario/contraseña pueden ser capturados con un sniffer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2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Vulnerabilidades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Como protegernos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Utilizando cortafuegos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Utilizando IDS o NIDS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Utilizar protocolos seguros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Protocolos de red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IPSec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SSH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4" name="TextShape 2"/>
          <p:cNvSpPr txBox="1"/>
          <p:nvPr/>
        </p:nvSpPr>
        <p:spPr>
          <a:xfrm>
            <a:off x="1451520" y="2015640"/>
            <a:ext cx="416232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IPSec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Surgió como protección al protocolo IP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Permite que dos redes independientes se comuniquen por un túnel securizado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Comunicación cifrada punto a punto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95" name="Picture 2" descr="IPsec VPN"/>
          <p:cNvPicPr/>
          <p:nvPr/>
        </p:nvPicPr>
        <p:blipFill>
          <a:blip r:embed="rId1"/>
          <a:stretch/>
        </p:blipFill>
        <p:spPr>
          <a:xfrm>
            <a:off x="6094440" y="2929320"/>
            <a:ext cx="4960080" cy="16232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7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2000"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IPSec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Amenazas que evitamos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La escucha y la captura de paquetes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Evita suplantaciones ya que la conexión va cifrada pero también autenticada.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Protocolos básicos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Protocolo AH (Authentication Header)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Protocolo ESP (Encapsulating Security Payload)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Gestión de credenciales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ISAKMP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OAKLEY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IKE/IKEv2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3050280" y="3248640"/>
            <a:ext cx="6100200" cy="8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algn="ctr">
              <a:lnSpc>
                <a:spcPct val="100000"/>
              </a:lnSpc>
            </a:pPr>
            <a:r>
              <a:rPr b="0" lang="es-ES" sz="5000" spc="-1" strike="noStrike">
                <a:solidFill>
                  <a:srgbClr val="000000"/>
                </a:solidFill>
                <a:latin typeface="Gill Sans MT"/>
              </a:rPr>
              <a:t>Practica 1.4: IPSec</a:t>
            </a:r>
            <a:endParaRPr b="0" lang="es-ES" sz="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1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Secure Socket Layer/Transport Layer Security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Proteger las conexiones de cualquier aplicación que use sockets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HTTP, FTP….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 (443) Hyper Text Transfer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3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Ventajas en las comunicaciones: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Confidencialidad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de las entidades emisoras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de mensajes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Ventajas en las comunicaciones: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Confidencialidad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Se confirma o acuerda que claves se utilizarán en el inicio de sesión entre cliente y servidor.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Habrá un total de 2 claves, una para cada dirección de la comunicación Cliente-Servidor y Servidor-Cliente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Intercambio de claves seguro basados en criptografía asimétrica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Certificado digital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7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Ventajas en las comunicaciones: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de las entidades emisoras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Es necesario conocer y aceptar la clave pública del servidor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Si se utiliza certificado para inicio de sesión en el inicio de sesión de un cliente en un servidor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de mensajes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Los paquetes SSl además de ir cifrados añaden un nivel de seguridad incluyendo un código HMAC, para garantizar la integridad y la autenticidiad del contenido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09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 tener en cuenta: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Eficiente. Solo se usa el cifrado asimétrico al establecer la conexión y crear la sesión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No se repite la autenticación y el intercambio de claves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Algoritmos de compresión de datos, reducen el tamaño de los mensajes y reducen el tiempo de transmisión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Varios tipos de cifrado, comprensión de datos e intercambio de claves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Los algoritmos se negocian al establecer la sesión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Siempre que sean compatibles con los vigentes se pueden añadir diferente s algoritmos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Arquitectura SSl/TLS: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La arquitectura tiene 2 niveles: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Nivel superior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Negociación de los parámetros de la sesión y la conexión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Transferencia de datos del nivel de aplicación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Funciones de control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Nivel inferior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Se negocian los servicios de intercambio seguro, como la comprensión y la autenticación sobre la capa superior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3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7000"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Sesiones y conexiones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Sesiones, a nivel de aplicación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Creación por parte del protocolo de negociación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Definición de parámetros de seguridad para aplicarse en distintas conexiones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Se establece: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Identificador de la sesión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Certificado de la entidad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Método de compresión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Clave maestra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Reanudar automáticamente la sesión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Sesiones y conexiones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Conexiones, a nivel de transporte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Son transitorias y se asocian a una sesión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Cada conexión tiene asociado: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Valores aleatorios compartidos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Dos pares de claves secretas generadas a través de una maestra, una para HMAC y otra para cifrar la conexión.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Vector de inicialización de la conexión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  <a:p>
            <a:pPr lvl="4" marL="20574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Numero de secuencia de los mensajes enviados y recibidos</a:t>
            </a:r>
            <a:endParaRPr b="0" lang="en-US" sz="12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7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Los protocolos SSL/TLS se sustentan en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Protocolo de registros (Record)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Confidencialidad mediante cifrado simétrico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Integridad mediante HMAC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Claves secretas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Protocolo de negociación (Handshake)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9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Los protocolos SSL/TLS se sustentan en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Protocolo de negociación (Handshake)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Autenticar cliente-servidor y servidor-cliente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Acordar algoritmos mediante cifrado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Compresión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Traspaso de claves de forma segura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21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SSL/TLS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Los protocolos SSL/TLS se sustentan en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Fases del protocolo de negociación (Handshake)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Establecimiento de las capacidades de cada extremo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Autenticación del servidor y envío del certificado o algoritmo de intercambio de clave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Autenticación del cliente (opcional)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Intercambio de parámetros concretos de conexión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3050280" y="3248640"/>
            <a:ext cx="6100200" cy="8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algn="ctr">
              <a:lnSpc>
                <a:spcPct val="100000"/>
              </a:lnSpc>
            </a:pPr>
            <a:r>
              <a:rPr b="0" lang="es-ES" sz="5000" spc="-1" strike="noStrike">
                <a:solidFill>
                  <a:srgbClr val="000000"/>
                </a:solidFill>
                <a:latin typeface="Gill Sans MT"/>
              </a:rPr>
              <a:t>Practica 1.5: SSL/TLS</a:t>
            </a:r>
            <a:endParaRPr b="0" lang="es-ES" sz="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25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SSH (Secure Shell)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Permite acceso remoto por terminal a través de la red, a servidores remotos para la administración de estos, sin necesidad de acceder a estos físicamente.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Servicio en el lado del servidor y aplicación cliente que tuneliza la comunicación.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SSH es la alternativa a Telnet y rlogin (remote login)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SSH combina cifrado asimétrico, simétrico y HMAC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27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SSH (Secure Shell)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Servicios de seguridad que ofrece SSH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Confidencialidad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e integridad en los mensajes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de entidades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de usuarios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Tunelización de conexiones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7000"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SSH (Secure Shell)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Pasos para establecer la conexión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Negociación de la versión del protocolo SSH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Actualmente versión 2, versión 1 obsoleta, misma versión entre cliente y servidor.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Negociación de algoritmos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Se negocian intercambios de clave, cifrado simétrico, HMAC y compresión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Intercambio de claves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SSHv2 solo utiliza Diffie-Hellman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Mensaje NEWKEYS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Fin de la negociación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1" name="TextShape 2"/>
          <p:cNvSpPr txBox="1"/>
          <p:nvPr/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4000"/>
          </a:bodyPr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SSH (Secure Shell)</a:t>
            </a:r>
            <a:endParaRPr b="0" lang="en-US" sz="2000" spc="-1" strike="noStrike">
              <a:solidFill>
                <a:srgbClr val="000000"/>
              </a:solidFill>
              <a:latin typeface="Gill Sans MT"/>
            </a:endParaRPr>
          </a:p>
          <a:p>
            <a:pPr lvl="1" marL="6858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Tipos de autenticación de usuarios (</a:t>
            </a:r>
            <a:r>
              <a:rPr b="0" lang="en-US" sz="1800" spc="-1" strike="noStrike" u="sng">
                <a:solidFill>
                  <a:srgbClr val="fa2b5c"/>
                </a:solidFill>
                <a:uFillTx/>
                <a:latin typeface="Gill Sans MT"/>
                <a:hlinkClick r:id="rId1"/>
              </a:rPr>
              <a:t>RFC 4252</a:t>
            </a: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marL="457200">
              <a:lnSpc>
                <a:spcPct val="120000"/>
              </a:lnSpc>
              <a:spcBef>
                <a:spcPts val="499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El protocolo de autenticación empieza con el intercambio de mensajes USERAUTH_REQUEST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nula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con lista de acceso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con lista de acceso con autenticación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basada en contraseña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2" marL="11430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Gill Sans MT"/>
              </a:rPr>
              <a:t>Autenticación basada en clave publica</a:t>
            </a:r>
            <a:endParaRPr b="0" lang="en-US" sz="16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ssh-keygen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pPr lvl="3" marL="1600200" indent="-22824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Gill Sans MT"/>
              </a:rPr>
              <a:t>Authorized_keys</a:t>
            </a:r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Shape 1"/>
          <p:cNvSpPr txBox="1"/>
          <p:nvPr/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3200" spc="-1" strike="noStrike" cap="all">
                <a:solidFill>
                  <a:srgbClr val="000000"/>
                </a:solidFill>
                <a:latin typeface="Gill Sans MT"/>
              </a:rPr>
              <a:t>1.6: protocolos de red seguros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3050280" y="3248640"/>
            <a:ext cx="6100200" cy="85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457200" algn="ctr">
              <a:lnSpc>
                <a:spcPct val="100000"/>
              </a:lnSpc>
            </a:pPr>
            <a:r>
              <a:rPr b="0" lang="es-ES" sz="5000" spc="-1" strike="noStrike">
                <a:solidFill>
                  <a:srgbClr val="000000"/>
                </a:solidFill>
                <a:latin typeface="Gill Sans MT"/>
              </a:rPr>
              <a:t>Practica 1.6: SSH</a:t>
            </a:r>
            <a:endParaRPr b="0" lang="es-ES" sz="5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719</TotalTime>
  <Application>LibreOffice/6.3.0.4$Windows_X86_64 LibreOffice_project/057fc023c990d676a43019934386b85b21a9ee99</Application>
  <Words>2500</Words>
  <Paragraphs>415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2024-09-23T16:54:00Z</dcterms:created>
  <dc:creator>Ismael GIL PONCE</dc:creator>
  <dc:description/>
  <dc:language>es-ES</dc:language>
  <cp:lastModifiedBy/>
  <dcterms:modified xsi:type="dcterms:W3CDTF">2024-10-01T12:31:44Z</dcterms:modified>
  <cp:revision>15</cp:revision>
  <dc:subject/>
  <dc:title>T0 – Prensentación de la asignatura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Panorámica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63</vt:i4>
  </property>
</Properties>
</file>